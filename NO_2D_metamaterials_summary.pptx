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56" r:id="rId5"/>
    <p:sldId id="1030" r:id="rId6"/>
    <p:sldId id="1029" r:id="rId7"/>
    <p:sldId id="918" r:id="rId8"/>
    <p:sldId id="1028" r:id="rId9"/>
    <p:sldId id="10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504F1F5-CE46-42C0-85B0-35D241E81344}">
          <p14:sldIdLst>
            <p14:sldId id="256"/>
            <p14:sldId id="1030"/>
            <p14:sldId id="1029"/>
            <p14:sldId id="918"/>
            <p14:sldId id="1028"/>
            <p14:sldId id="10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86E619-9A90-75DF-C2FC-ED5272E1CCB1}" name="Han Zhang" initials="HZ" userId="S::hz283@duke.edu::0a7a48f2-d47e-4d90-872a-778c92faed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A4"/>
    <a:srgbClr val="0223B7"/>
    <a:srgbClr val="0A1A84"/>
    <a:srgbClr val="0432FF"/>
    <a:srgbClr val="F79144"/>
    <a:srgbClr val="F4F023"/>
    <a:srgbClr val="B32A8D"/>
    <a:srgbClr val="F7E625"/>
    <a:srgbClr val="0C0786"/>
    <a:srgbClr val="ED9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8" autoAdjust="0"/>
    <p:restoredTop sz="88007" autoAdjust="0"/>
  </p:normalViewPr>
  <p:slideViewPr>
    <p:cSldViewPr snapToGrid="0">
      <p:cViewPr varScale="1">
        <p:scale>
          <a:sx n="140" d="100"/>
          <a:sy n="140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A9559-5325-4FFA-A5F2-CBDDB1074751}" type="datetimeFigureOut">
              <a:rPr lang="en-US" smtClean="0"/>
              <a:t>26/06/12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6D2F6-D9A8-4EC3-B74F-DA40A0FC4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1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6D2F6-D9A8-4EC3-B74F-DA40A0FC4A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3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6D2F6-D9A8-4EC3-B74F-DA40A0FC4A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1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F63F-E9BB-8745-9C2E-F1E7A9E08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EE111-2795-F64F-93F7-E2BFD3F8C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559B69-72AC-2D41-95E7-C02BE31D3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74" y="6296024"/>
            <a:ext cx="425451" cy="425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2FA828-CBFA-6943-B336-E04DD0FEF1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789" y="6356350"/>
            <a:ext cx="834570" cy="365125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8F7AA02-B556-40A3-A634-2CB705B66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E3CD-1999-D346-A773-5BA4224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0C3D8-70EC-0144-B2D2-F37907C63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92FA0-CCF0-4463-9555-B34680F45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8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86C5-0557-484D-9CE8-1A2EB9A8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20CE4-2AED-164D-81DB-EDE18F296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4977-FD33-4AF1-B696-03BEF6CA9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581DC-F6E5-4AEE-98F3-A1977368E94D}" type="datetime1">
              <a:rPr lang="en-US" smtClean="0"/>
              <a:t>26/06/12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A29C-2220-4533-BED4-C4C0BE65D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407B-158B-4C16-B87A-A0A25AF90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CCEB4-8D27-44B8-BCDB-4D5F996AC7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7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DDAB-9B41-CB4D-B81F-D02EA11C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2B26-6F1F-EA49-83F0-19FD257EC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5BC4B-69F7-C943-86F3-4633D4E0F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37A899B-D3F3-4E58-BA75-DC9CC55C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148C6-A681-474A-852B-6488E264F1FD}" type="datetime1">
              <a:rPr lang="en-US" smtClean="0"/>
              <a:t>26/06/12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6738E72-03BB-4601-ADF2-4A74E4B66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3D8647-265A-4A49-BF56-605336246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CCEB4-8D27-44B8-BCDB-4D5F996AC7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2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4F81-1B12-D542-A47E-321BC2B9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A036E-FE9F-B743-8FEB-7EEB6736B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E47C4-6E06-164A-8DE1-B9E9DADE9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BB4F8-8EC4-3B49-A6A2-7CAD64D24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924AA-B59D-DF4B-9013-49C135B63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4842C47-906E-4A38-B5E8-2C15A38C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877EE-87E6-4A80-A3D1-647EBC487900}" type="datetime1">
              <a:rPr lang="en-US" smtClean="0"/>
              <a:t>26/06/12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E3C1ADE-FE20-4872-A52C-8DE854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40D701-D64A-4CB0-876D-DE1D9B89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CCEB4-8D27-44B8-BCDB-4D5F996AC7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5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2031-D430-FF4A-914B-EC8D6D79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BA37F7-1FE2-4FCB-9150-ADE23E29F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86A0AF1-AF81-41B6-94CA-3D051A15F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0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592A-05BD-4E48-8428-B2A330D5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980F-2FA6-5146-BFEC-C90ABE89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1D052-7E37-F449-A298-B4269F6F6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F65DE-E67A-3444-B8D1-5E71C3C0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F39E345-7F84-425C-B838-418A9624F210}" type="datetime1">
              <a:rPr lang="en-US" smtClean="0"/>
              <a:t>26/06/12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5740A-CA42-EB4C-BFCB-A0283AF2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80DE9-D46A-744B-86A6-F872A002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A14A-7142-8648-B143-BFA4BB0A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31A6D-5D1B-0F4B-9472-297116237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D1D07-5A26-E643-8E77-15356C7AD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D7911-2FF8-7648-AD25-57B8B65C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E5D04-5C5D-47CC-BDED-D4EAD1A4B7F8}" type="datetime1">
              <a:rPr lang="en-US" smtClean="0"/>
              <a:t>26/06/12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DA6F9-DC5D-164C-9613-DBDEF619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F0E26-06EF-E745-8F09-E1246435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0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A87-2923-1645-A281-71241B1B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37DD1-E1DE-C245-AB51-DD250119B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20245-C0E4-6D48-8932-FBF0B983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789B8F-7842-4BEF-9976-1EE74F57C738}" type="datetime1">
              <a:rPr lang="en-US" smtClean="0"/>
              <a:t>26/06/12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C2D26-6A09-E549-A151-79C25F25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90855-C170-A543-B44D-A2B80F55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8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B198B-1D55-9A4E-93A9-70F460D54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3F93B-724B-F148-9B1E-AE9EAE9D7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AA3F2-B87E-6744-8D27-F65C39F7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0F5937-DD26-4F95-A0ED-C31A278A1247}" type="datetime1">
              <a:rPr lang="en-US" smtClean="0"/>
              <a:t>26/06/12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9AAEB-7811-6A47-8CAE-44FBCE05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64DAB-914A-DF41-BB9B-0187900E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5E0C6-0B4F-D549-AE95-75D6A59D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08"/>
            <a:ext cx="10515600" cy="1056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3B518-1A07-334F-BBE0-F85E02E5F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102"/>
            <a:ext cx="10515600" cy="473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118EEC-DFAE-FE4C-8004-A4C571C4D9D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82300" y="6164265"/>
            <a:ext cx="1143000" cy="589127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85A09B-6B0A-6242-AF78-4C3A4F0AFFE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68274" y="6296024"/>
            <a:ext cx="425451" cy="425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84E2E-6D68-8F49-A65C-A1AC1733B65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06789" y="6356350"/>
            <a:ext cx="834570" cy="3651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B75E0-832B-4D42-8F0F-2E30CFDCF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9BD83-B2B4-4833-86B7-8D5583952E34}" type="datetime1">
              <a:rPr lang="en-US" smtClean="0"/>
              <a:t>26/06/12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7E82C-B88C-48B8-B9E1-6C78D2260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B6BB-0DBB-49F5-B32F-3E5A52A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CCEB4-8D27-44B8-BCDB-4D5F996AC7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75000"/>
            </a:schemeClr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75000"/>
            </a:schemeClr>
          </a:solidFill>
          <a:latin typeface="Trebuchet MS" panose="020B06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Trebuchet MS" panose="020B06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75000"/>
            </a:schemeClr>
          </a:solidFill>
          <a:latin typeface="Trebuchet MS" panose="020B06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75000"/>
            </a:schemeClr>
          </a:solidFill>
          <a:latin typeface="Trebuchet MS" panose="020B06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75000"/>
            </a:schemeClr>
          </a:solidFill>
          <a:latin typeface="Trebuchet MS" panose="020B06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CED0-8A80-4A34-815A-891CFF627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837" y="1779713"/>
            <a:ext cx="10982326" cy="2387600"/>
          </a:xfrm>
        </p:spPr>
        <p:txBody>
          <a:bodyPr>
            <a:normAutofit/>
          </a:bodyPr>
          <a:lstStyle/>
          <a:p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Fourier Neural Operators for 2D Acoustic Metamaterials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33619-0812-4273-BD4E-A23F49F54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9549"/>
            <a:ext cx="9144000" cy="800100"/>
          </a:xfrm>
        </p:spPr>
        <p:txBody>
          <a:bodyPr/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Han Zhang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C3ABF4E-5F55-444C-8362-BCAC4BA17E2D}"/>
              </a:ext>
            </a:extLst>
          </p:cNvPr>
          <p:cNvSpPr txBox="1">
            <a:spLocks/>
          </p:cNvSpPr>
          <p:nvPr/>
        </p:nvSpPr>
        <p:spPr>
          <a:xfrm>
            <a:off x="1524000" y="5739714"/>
            <a:ext cx="9144000" cy="80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40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D71B-9656-9696-4049-51CAB390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BD1B-B3D2-6222-CF37-E6208E41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08"/>
            <a:ext cx="10515600" cy="783384"/>
          </a:xfrm>
        </p:spPr>
        <p:txBody>
          <a:bodyPr>
            <a:normAutofit/>
          </a:bodyPr>
          <a:lstStyle/>
          <a:p>
            <a:r>
              <a:rPr lang="en-US" sz="4000" dirty="0"/>
              <a:t>FNO Architecture &amp; Sample 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B73B6-016E-9EF0-F734-5E367E29DCF3}"/>
              </a:ext>
            </a:extLst>
          </p:cNvPr>
          <p:cNvSpPr txBox="1"/>
          <p:nvPr/>
        </p:nvSpPr>
        <p:spPr>
          <a:xfrm>
            <a:off x="565244" y="2804616"/>
            <a:ext cx="5423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Kovachki</a:t>
            </a:r>
            <a:r>
              <a:rPr lang="en-US" sz="1000" dirty="0"/>
              <a:t> et. al: Neural Operator Learning Maps Between Function Spaces With Applications to PDEs</a:t>
            </a:r>
          </a:p>
        </p:txBody>
      </p:sp>
      <p:pic>
        <p:nvPicPr>
          <p:cNvPr id="18" name="Content Placeholder 17" descr="A diagram of a machine&#10;&#10;Description automatically generated">
            <a:extLst>
              <a:ext uri="{FF2B5EF4-FFF2-40B4-BE49-F238E27FC236}">
                <a16:creationId xmlns:a16="http://schemas.microsoft.com/office/drawing/2014/main" id="{3F40136D-F25E-4B45-1242-26DE7FD49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6554"/>
          <a:stretch>
            <a:fillRect/>
          </a:stretch>
        </p:blipFill>
        <p:spPr>
          <a:xfrm>
            <a:off x="101757" y="1020348"/>
            <a:ext cx="5884103" cy="779233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EA4C29C-5378-A904-8255-F38110446D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247" y="3166281"/>
                <a:ext cx="5423634" cy="3077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>
                        <a:lumMod val="7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>
                        <a:lumMod val="7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>
                        <a:lumMod val="7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>
                        <a:lumMod val="7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>
                        <a:lumMod val="75000"/>
                      </a:schemeClr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Model used is a 4 layer Fourier Neural Operator (FNO)</a:t>
                </a:r>
              </a:p>
              <a:p>
                <a:r>
                  <a:rPr lang="en-US" sz="2000" i="1" dirty="0"/>
                  <a:t>‘a’</a:t>
                </a:r>
                <a:r>
                  <a:rPr lang="en-US" sz="2000" dirty="0"/>
                  <a:t> is our 3x32x32 input of geometry, wavevector, and band.</a:t>
                </a:r>
              </a:p>
              <a:p>
                <a:pPr lvl="1"/>
                <a:r>
                  <a:rPr lang="en-US" sz="1600" dirty="0"/>
                  <a:t>Wavevector uses a 2D wavelet embedding representation</a:t>
                </a:r>
              </a:p>
              <a:p>
                <a:pPr lvl="1"/>
                <a:r>
                  <a:rPr lang="en-US" sz="1600" dirty="0"/>
                  <a:t>Band uses a scalar wavelet embedding representation</a:t>
                </a:r>
              </a:p>
              <a:p>
                <a:r>
                  <a:rPr lang="en-US" sz="2000" dirty="0"/>
                  <a:t>First layer </a:t>
                </a:r>
                <a:r>
                  <a:rPr lang="en-US" sz="2000" i="1" dirty="0"/>
                  <a:t>‘P’</a:t>
                </a:r>
                <a:r>
                  <a:rPr lang="en-US" sz="2000" dirty="0"/>
                  <a:t> lifts </a:t>
                </a:r>
                <a:r>
                  <a:rPr lang="en-US" sz="2000" i="1" dirty="0"/>
                  <a:t>‘a’</a:t>
                </a:r>
                <a:r>
                  <a:rPr lang="en-US" sz="2000" dirty="0"/>
                  <a:t> into a higher dimensional space.</a:t>
                </a:r>
              </a:p>
              <a:p>
                <a:pPr lvl="1"/>
                <a:r>
                  <a:rPr lang="en-US" sz="1600" dirty="0"/>
                  <a:t>Yields multiple channels to for model to learn different features on.</a:t>
                </a:r>
              </a:p>
              <a:p>
                <a:r>
                  <a:rPr lang="en-US" sz="2000" dirty="0"/>
                  <a:t>FNO layer (x4)</a:t>
                </a:r>
              </a:p>
              <a:p>
                <a:pPr lvl="1"/>
                <a:r>
                  <a:rPr lang="en-US" sz="1600" dirty="0"/>
                  <a:t>Input data passes through a spectral branch (top) and spatial branch (bottom)</a:t>
                </a:r>
              </a:p>
              <a:p>
                <a:pPr lvl="1"/>
                <a:r>
                  <a:rPr lang="en-US" sz="1600" dirty="0"/>
                  <a:t>Spectral branch undergoes a Fourier transform, a learned matrix </a:t>
                </a:r>
                <a:r>
                  <a:rPr lang="en-US" sz="2000" i="1" dirty="0"/>
                  <a:t>‘R’</a:t>
                </a:r>
                <a:r>
                  <a:rPr lang="en-US" sz="1600" dirty="0"/>
                  <a:t> multiplication, and an inverse Fourier transform, and addition of learned biases </a:t>
                </a:r>
                <a:r>
                  <a:rPr lang="en-US" sz="2000" i="1" dirty="0"/>
                  <a:t>‘b’</a:t>
                </a:r>
                <a:endParaRPr lang="en-US" sz="1600" dirty="0"/>
              </a:p>
              <a:p>
                <a:pPr lvl="1"/>
                <a:r>
                  <a:rPr lang="en-US" sz="1600" dirty="0"/>
                  <a:t>Spatial branch undergoes learned matrix </a:t>
                </a:r>
                <a:r>
                  <a:rPr lang="en-US" sz="1600" i="1" dirty="0"/>
                  <a:t>‘W’</a:t>
                </a:r>
                <a:r>
                  <a:rPr lang="en-US" sz="1600" dirty="0"/>
                  <a:t> multiplication</a:t>
                </a:r>
              </a:p>
              <a:p>
                <a:pPr lvl="1"/>
                <a:r>
                  <a:rPr lang="en-US" sz="1600" dirty="0"/>
                  <a:t>Branch outputs summed and passed through non-linear function </a:t>
                </a:r>
                <a:r>
                  <a:rPr lang="en-US" sz="1600" i="1" dirty="0"/>
                  <a:t>‘</a:t>
                </a:r>
                <a:r>
                  <a:rPr lang="el-GR" sz="1600" i="1" dirty="0"/>
                  <a:t>σ</a:t>
                </a:r>
                <a:r>
                  <a:rPr lang="en-US" sz="1600" i="1" dirty="0"/>
                  <a:t>’</a:t>
                </a:r>
              </a:p>
              <a:p>
                <a:r>
                  <a:rPr lang="en-US" sz="2000" dirty="0"/>
                  <a:t>Last layer returns output ‘u’ with shape 5x32x32</a:t>
                </a:r>
              </a:p>
              <a:p>
                <a:pPr lvl="1"/>
                <a:r>
                  <a:rPr lang="en-US" sz="1600" dirty="0"/>
                  <a:t>First channel is a prediction of eigenfrequency ‘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600" dirty="0"/>
                  <a:t>’</a:t>
                </a:r>
              </a:p>
              <a:p>
                <a:pPr lvl="1"/>
                <a:r>
                  <a:rPr lang="en-US" sz="1600" dirty="0"/>
                  <a:t>Next four channels are real and imaginary displacements in ‘x’ and ‘y’</a:t>
                </a:r>
              </a:p>
            </p:txBody>
          </p:sp>
        </mc:Choice>
        <mc:Fallback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EA4C29C-5378-A904-8255-F38110446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47" y="3166281"/>
                <a:ext cx="5423634" cy="3077569"/>
              </a:xfrm>
              <a:prstGeom prst="rect">
                <a:avLst/>
              </a:prstGeom>
              <a:blipFill>
                <a:blip r:embed="rId3"/>
                <a:stretch>
                  <a:fillRect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17" descr="A diagram of a machine&#10;&#10;Description automatically generated">
            <a:extLst>
              <a:ext uri="{FF2B5EF4-FFF2-40B4-BE49-F238E27FC236}">
                <a16:creationId xmlns:a16="http://schemas.microsoft.com/office/drawing/2014/main" id="{9F80B38F-9801-2B24-02C0-F725A355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10" b="1447"/>
          <a:stretch>
            <a:fillRect/>
          </a:stretch>
        </p:blipFill>
        <p:spPr>
          <a:xfrm>
            <a:off x="101757" y="1799582"/>
            <a:ext cx="5884103" cy="100503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58BA55-AF75-F30A-97A6-018278679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796" y="1046323"/>
            <a:ext cx="5658960" cy="1569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7F1A0-309E-4526-FFB6-8BEF4468E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21" y="2774292"/>
            <a:ext cx="5708615" cy="3396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385AB2-9EE2-FC5E-6290-B32C753B48F6}"/>
              </a:ext>
            </a:extLst>
          </p:cNvPr>
          <p:cNvSpPr txBox="1"/>
          <p:nvPr/>
        </p:nvSpPr>
        <p:spPr>
          <a:xfrm>
            <a:off x="6252778" y="834085"/>
            <a:ext cx="5658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Inputs: Geometry, Wavevector, and Band with wavelet embeddings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AD03D-3ADE-8095-026F-472A90AAD1E9}"/>
              </a:ext>
            </a:extLst>
          </p:cNvPr>
          <p:cNvSpPr txBox="1"/>
          <p:nvPr/>
        </p:nvSpPr>
        <p:spPr>
          <a:xfrm>
            <a:off x="6252777" y="2527617"/>
            <a:ext cx="5658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Outputs, Predictions, &amp; Differences at median (50</a:t>
            </a:r>
            <a:r>
              <a:rPr lang="en-US" sz="1200" baseline="300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th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percentile) performance</a:t>
            </a:r>
          </a:p>
        </p:txBody>
      </p:sp>
    </p:spTree>
    <p:extLst>
      <p:ext uri="{BB962C8B-B14F-4D97-AF65-F5344CB8AC3E}">
        <p14:creationId xmlns:p14="http://schemas.microsoft.com/office/powerpoint/2010/main" val="308937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A5EE-318E-C2B5-D179-3D7C7F19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2E0060E-354F-58DC-2C56-9C57FA29506A}"/>
              </a:ext>
            </a:extLst>
          </p:cNvPr>
          <p:cNvSpPr txBox="1">
            <a:spLocks/>
          </p:cNvSpPr>
          <p:nvPr/>
        </p:nvSpPr>
        <p:spPr>
          <a:xfrm>
            <a:off x="838198" y="1161293"/>
            <a:ext cx="5479298" cy="5048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Model size: </a:t>
            </a:r>
            <a:r>
              <a:rPr lang="en-US" sz="1600" b="1" dirty="0"/>
              <a:t>272 MB</a:t>
            </a:r>
          </a:p>
          <a:p>
            <a:r>
              <a:rPr lang="en-US" sz="1600" dirty="0"/>
              <a:t>Dataset: </a:t>
            </a:r>
          </a:p>
          <a:p>
            <a:pPr lvl="1"/>
            <a:r>
              <a:rPr lang="en-US" sz="1200" b="1" dirty="0"/>
              <a:t>24000 training &amp; 1000 test geometries</a:t>
            </a:r>
          </a:p>
          <a:p>
            <a:pPr lvl="1"/>
            <a:r>
              <a:rPr lang="en-US" sz="1200" b="1" dirty="0"/>
              <a:t>Each geometry has 95 x and y wavevector combinations</a:t>
            </a:r>
          </a:p>
          <a:p>
            <a:pPr lvl="1"/>
            <a:r>
              <a:rPr lang="en-US" sz="1200" b="1" dirty="0"/>
              <a:t>Each geometry has 6 displacement modes (bands)</a:t>
            </a:r>
          </a:p>
          <a:p>
            <a:r>
              <a:rPr lang="en-US" sz="1600" dirty="0"/>
              <a:t>Training criterion: Huber loss (L2, followed by L1)</a:t>
            </a:r>
          </a:p>
          <a:p>
            <a:r>
              <a:rPr lang="en-US" sz="1600" dirty="0"/>
              <a:t>Training time: </a:t>
            </a:r>
            <a:r>
              <a:rPr lang="en-US" sz="1600" b="1" dirty="0"/>
              <a:t>1 day on 1 NVIDIA 4080 GPU</a:t>
            </a:r>
          </a:p>
          <a:p>
            <a:r>
              <a:rPr lang="en-US" sz="1600" dirty="0"/>
              <a:t>Inference time: </a:t>
            </a:r>
            <a:r>
              <a:rPr lang="en-US" sz="1600" b="1" dirty="0"/>
              <a:t>&lt;1ms per sample</a:t>
            </a:r>
          </a:p>
          <a:p>
            <a:r>
              <a:rPr lang="en-US" sz="1600" dirty="0"/>
              <a:t>Performance: </a:t>
            </a:r>
            <a:r>
              <a:rPr lang="en-US" sz="1600" b="1" dirty="0"/>
              <a:t>Average normalized mean absolute error (NMAE) is 0.35%, median is 0.16% error </a:t>
            </a:r>
          </a:p>
          <a:p>
            <a:r>
              <a:rPr lang="en-US" sz="1600" dirty="0"/>
              <a:t>This model can be used to predict the shapes and temporal frequencies of multiple (6) deformation modes for each geometry, for any wavevector stimuli (within the IBZ)</a:t>
            </a:r>
          </a:p>
          <a:p>
            <a:r>
              <a:rPr lang="en-US" sz="1600" dirty="0"/>
              <a:t>Biggest contribution to performance is from wavelet embeddings for wavevector and band information which more richly interact with model weights in the spectral and spatial branches of each FNO layer.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50B20-ABDA-D3D1-DDF5-E589333EB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15" y="0"/>
            <a:ext cx="5241201" cy="32007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F26D304-0F58-6907-6796-0308AD89F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15" y="3429000"/>
            <a:ext cx="428625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0E0992-9B15-AF94-EFF2-BD062FD1E7B5}"/>
              </a:ext>
            </a:extLst>
          </p:cNvPr>
          <p:cNvSpPr txBox="1"/>
          <p:nvPr/>
        </p:nvSpPr>
        <p:spPr>
          <a:xfrm>
            <a:off x="10724865" y="4540661"/>
            <a:ext cx="1076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Test set</a:t>
            </a:r>
          </a:p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Performance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10D06F-C7A2-85D3-1FE6-0CA388FF0AB4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10604310" y="4285397"/>
            <a:ext cx="658590" cy="255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A1AD01-796C-737A-5B4C-B2506DE0ADC3}"/>
              </a:ext>
            </a:extLst>
          </p:cNvPr>
          <p:cNvSpPr txBox="1"/>
          <p:nvPr/>
        </p:nvSpPr>
        <p:spPr>
          <a:xfrm>
            <a:off x="10724865" y="3200702"/>
            <a:ext cx="1076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Dispersion</a:t>
            </a:r>
          </a:p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Performance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ADA476-69F4-2A2D-01B0-F53D4802EC39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603746" y="2934269"/>
            <a:ext cx="659154" cy="266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889C21EF-1325-9841-15C5-DC99F9ED0A74}"/>
              </a:ext>
            </a:extLst>
          </p:cNvPr>
          <p:cNvSpPr txBox="1">
            <a:spLocks/>
          </p:cNvSpPr>
          <p:nvPr/>
        </p:nvSpPr>
        <p:spPr>
          <a:xfrm>
            <a:off x="838200" y="104608"/>
            <a:ext cx="10515600" cy="78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>
                    <a:lumMod val="75000"/>
                  </a:schemeClr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4079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DE39-28F2-E55C-A968-7BF5DE30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397"/>
            <a:ext cx="10515600" cy="1056686"/>
          </a:xfrm>
        </p:spPr>
        <p:txBody>
          <a:bodyPr/>
          <a:lstStyle/>
          <a:p>
            <a:r>
              <a:rPr lang="en-US" dirty="0"/>
              <a:t>Motivation &amp; Applications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E50227-F1D0-C0CB-9A2A-1A4DB4C8C040}"/>
              </a:ext>
            </a:extLst>
          </p:cNvPr>
          <p:cNvSpPr txBox="1">
            <a:spLocks/>
          </p:cNvSpPr>
          <p:nvPr/>
        </p:nvSpPr>
        <p:spPr>
          <a:xfrm>
            <a:off x="5260076" y="1147083"/>
            <a:ext cx="6093724" cy="5029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solving of PDEs is the fundamental problem</a:t>
            </a:r>
          </a:p>
          <a:p>
            <a:pPr lvl="1"/>
            <a:r>
              <a:rPr lang="en-US" sz="1600" dirty="0"/>
              <a:t>Analytical solutions are rare for real world problems</a:t>
            </a:r>
          </a:p>
          <a:p>
            <a:r>
              <a:rPr lang="en-US" sz="2000" dirty="0"/>
              <a:t>Numerical approaches (finite element methods)</a:t>
            </a:r>
          </a:p>
          <a:p>
            <a:pPr lvl="1"/>
            <a:r>
              <a:rPr lang="en-US" sz="1600" dirty="0"/>
              <a:t>Slow due to poor scaling laws.</a:t>
            </a:r>
          </a:p>
          <a:p>
            <a:pPr lvl="1"/>
            <a:r>
              <a:rPr lang="en-US" sz="1600" dirty="0"/>
              <a:t>Compute intensive so economically impractical</a:t>
            </a:r>
          </a:p>
          <a:p>
            <a:r>
              <a:rPr lang="en-US" sz="2000" dirty="0"/>
              <a:t>Traditional neural networks</a:t>
            </a:r>
          </a:p>
          <a:p>
            <a:pPr lvl="1"/>
            <a:r>
              <a:rPr lang="en-US" sz="1600" dirty="0"/>
              <a:t>Poor generalizability</a:t>
            </a:r>
          </a:p>
          <a:p>
            <a:pPr lvl="1"/>
            <a:r>
              <a:rPr lang="en-US" sz="1600" dirty="0"/>
              <a:t>Data intensive (upfront costs)</a:t>
            </a:r>
          </a:p>
          <a:p>
            <a:r>
              <a:rPr lang="en-US" sz="2000" dirty="0"/>
              <a:t>Neural operators</a:t>
            </a:r>
          </a:p>
          <a:p>
            <a:pPr lvl="1"/>
            <a:r>
              <a:rPr lang="en-US" sz="1600" dirty="0"/>
              <a:t>Generalizable across resolution</a:t>
            </a:r>
          </a:p>
          <a:p>
            <a:pPr lvl="1"/>
            <a:r>
              <a:rPr lang="en-US" sz="1600" dirty="0"/>
              <a:t>Relatively lightweight, because fundamentally, functions are more efficient representations than pointwise descriptions.</a:t>
            </a:r>
          </a:p>
          <a:p>
            <a:r>
              <a:rPr lang="en-US" sz="2000" dirty="0"/>
              <a:t>The applications are at minimum, anywhere where PDEs are used.</a:t>
            </a:r>
          </a:p>
        </p:txBody>
      </p:sp>
      <p:pic>
        <p:nvPicPr>
          <p:cNvPr id="12" name="Picture 11" descr="A multicolored metal object with a wireframe&#10;&#10;Description automatically generated">
            <a:extLst>
              <a:ext uri="{FF2B5EF4-FFF2-40B4-BE49-F238E27FC236}">
                <a16:creationId xmlns:a16="http://schemas.microsoft.com/office/drawing/2014/main" id="{AC05DB1C-6E55-FDB0-6300-A3BE99906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04751"/>
            <a:ext cx="3452884" cy="27018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E3D4DA-1313-2B09-FA65-E15A7444202A}"/>
              </a:ext>
            </a:extLst>
          </p:cNvPr>
          <p:cNvSpPr txBox="1"/>
          <p:nvPr/>
        </p:nvSpPr>
        <p:spPr>
          <a:xfrm>
            <a:off x="838200" y="3606633"/>
            <a:ext cx="3043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https://www.cambridge-dt.com/finite-element-analysis-predicting-the-real-world/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7D23A-1B76-BCA2-A6F9-70228E62952F}"/>
              </a:ext>
            </a:extLst>
          </p:cNvPr>
          <p:cNvSpPr txBox="1"/>
          <p:nvPr/>
        </p:nvSpPr>
        <p:spPr>
          <a:xfrm>
            <a:off x="1653268" y="6591300"/>
            <a:ext cx="6093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https://www.ibm.com/topics/neural-networks</a:t>
            </a:r>
          </a:p>
        </p:txBody>
      </p:sp>
      <p:pic>
        <p:nvPicPr>
          <p:cNvPr id="18" name="Picture 17" descr="A diagram of a network&#10;&#10;Description automatically generated">
            <a:extLst>
              <a:ext uri="{FF2B5EF4-FFF2-40B4-BE49-F238E27FC236}">
                <a16:creationId xmlns:a16="http://schemas.microsoft.com/office/drawing/2014/main" id="{80B82749-65B7-EC6C-252B-C6D714E6E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88" y="4015498"/>
            <a:ext cx="4673072" cy="26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3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A121-E91A-D632-84C2-8F51F2B3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1B12A9-25CB-5762-99AB-2BDF180EB404}"/>
              </a:ext>
            </a:extLst>
          </p:cNvPr>
          <p:cNvSpPr txBox="1"/>
          <p:nvPr/>
        </p:nvSpPr>
        <p:spPr>
          <a:xfrm>
            <a:off x="1617802" y="6176207"/>
            <a:ext cx="3439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from: N. </a:t>
            </a:r>
            <a:r>
              <a:rPr lang="en-US" sz="1000" dirty="0" err="1"/>
              <a:t>Kovachki</a:t>
            </a:r>
            <a:r>
              <a:rPr lang="en-US" sz="1000" dirty="0"/>
              <a:t>, et. </a:t>
            </a:r>
            <a:r>
              <a:rPr lang="en-US" sz="1000" dirty="0" err="1"/>
              <a:t>al’s</a:t>
            </a:r>
            <a:r>
              <a:rPr lang="en-US" sz="1000" dirty="0"/>
              <a:t> Neural Operator: Learning Maps Between Function Spaces With Applications to PDEs</a:t>
            </a:r>
          </a:p>
        </p:txBody>
      </p:sp>
      <p:pic>
        <p:nvPicPr>
          <p:cNvPr id="18" name="Content Placeholder 17" descr="A diagram of a machine&#10;&#10;Description automatically generated">
            <a:extLst>
              <a:ext uri="{FF2B5EF4-FFF2-40B4-BE49-F238E27FC236}">
                <a16:creationId xmlns:a16="http://schemas.microsoft.com/office/drawing/2014/main" id="{79F9809E-0A9A-50D4-B0A5-F9A88896C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61294"/>
            <a:ext cx="5091966" cy="5014913"/>
          </a:xfr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48049D6-D4AC-53C4-D3A2-DDB81309576C}"/>
              </a:ext>
            </a:extLst>
          </p:cNvPr>
          <p:cNvSpPr txBox="1">
            <a:spLocks/>
          </p:cNvSpPr>
          <p:nvPr/>
        </p:nvSpPr>
        <p:spPr>
          <a:xfrm>
            <a:off x="5930166" y="1161294"/>
            <a:ext cx="5423634" cy="50149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Input ‘a’ is a function.</a:t>
            </a:r>
          </a:p>
          <a:p>
            <a:pPr lvl="1"/>
            <a:r>
              <a:rPr lang="en-US" sz="1600" dirty="0"/>
              <a:t>Ex. description of geometry</a:t>
            </a:r>
          </a:p>
          <a:p>
            <a:r>
              <a:rPr lang="en-US" sz="2000" dirty="0"/>
              <a:t>First layer ‘P’ lifts ‘a’ into a high dimensional space.</a:t>
            </a:r>
          </a:p>
          <a:p>
            <a:pPr lvl="1"/>
            <a:r>
              <a:rPr lang="en-US" sz="1600" dirty="0"/>
              <a:t>Maps finite dimensional function information to something closer to an infinite dimensional function space that is the domain of our operator in training.</a:t>
            </a:r>
          </a:p>
          <a:p>
            <a:r>
              <a:rPr lang="en-US" sz="2000" dirty="0"/>
              <a:t>Neural operator (Fourier) layers</a:t>
            </a:r>
          </a:p>
          <a:p>
            <a:pPr lvl="1"/>
            <a:r>
              <a:rPr lang="en-US" sz="1600" dirty="0"/>
              <a:t>Fourier transformations on continuous functions</a:t>
            </a:r>
          </a:p>
          <a:p>
            <a:pPr lvl="1"/>
            <a:r>
              <a:rPr lang="en-US" sz="1600" dirty="0"/>
              <a:t>Two bias terms, b(x) and W(v(x))</a:t>
            </a:r>
          </a:p>
          <a:p>
            <a:pPr lvl="1"/>
            <a:r>
              <a:rPr lang="en-US" sz="1600" dirty="0"/>
              <a:t>Linear transform R effectively discards some higher frequency modes (noise).</a:t>
            </a:r>
          </a:p>
          <a:p>
            <a:r>
              <a:rPr lang="en-US" sz="2000" dirty="0"/>
              <a:t>Last layer usually a projection layer that returns a function ‘u’ from high dimensional latent space to similar/same dimensionality as ‘a’</a:t>
            </a:r>
          </a:p>
          <a:p>
            <a:pPr lvl="1"/>
            <a:r>
              <a:rPr lang="en-US" sz="1600" dirty="0"/>
              <a:t>This is like the inverse of the first layer, mapping from (approximation) of infinite dimensional function space back to some finite dimension function space to give an approximation function.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6E0E0-B9D4-7C21-14AD-4096A119EE5C}"/>
              </a:ext>
            </a:extLst>
          </p:cNvPr>
          <p:cNvSpPr/>
          <p:nvPr/>
        </p:nvSpPr>
        <p:spPr>
          <a:xfrm>
            <a:off x="1023582" y="5199798"/>
            <a:ext cx="4906584" cy="9764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A758-6A17-8C51-7237-048A1FF3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Results</a:t>
            </a:r>
          </a:p>
        </p:txBody>
      </p:sp>
      <p:pic>
        <p:nvPicPr>
          <p:cNvPr id="9" name="Picture 8" descr="A chart of a wave&#10;&#10;Description automatically generated with medium confidence">
            <a:extLst>
              <a:ext uri="{FF2B5EF4-FFF2-40B4-BE49-F238E27FC236}">
                <a16:creationId xmlns:a16="http://schemas.microsoft.com/office/drawing/2014/main" id="{C76C31B1-BB11-08BA-7052-C3BD25A1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24" y="1161294"/>
            <a:ext cx="4083982" cy="3901117"/>
          </a:xfrm>
          <a:prstGeom prst="rect">
            <a:avLst/>
          </a:prstGeom>
        </p:spPr>
      </p:pic>
      <p:pic>
        <p:nvPicPr>
          <p:cNvPr id="11" name="Picture 10" descr="A colorful squares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58A5B822-51FA-74A8-B014-C1046C961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94" y="1161294"/>
            <a:ext cx="3639011" cy="39011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DBAB9C-D172-8F1B-CB78-493C951567C6}"/>
              </a:ext>
            </a:extLst>
          </p:cNvPr>
          <p:cNvSpPr txBox="1"/>
          <p:nvPr/>
        </p:nvSpPr>
        <p:spPr>
          <a:xfrm>
            <a:off x="4192384" y="2850242"/>
            <a:ext cx="92469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Encode as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387E6-B38D-E2A9-1675-88A1A49ADDCE}"/>
              </a:ext>
            </a:extLst>
          </p:cNvPr>
          <p:cNvSpPr txBox="1"/>
          <p:nvPr/>
        </p:nvSpPr>
        <p:spPr>
          <a:xfrm>
            <a:off x="6566136" y="2850242"/>
            <a:ext cx="112060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Decode from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716C84-6804-D5A1-0D08-05C99751246B}"/>
              </a:ext>
            </a:extLst>
          </p:cNvPr>
          <p:cNvSpPr txBox="1"/>
          <p:nvPr/>
        </p:nvSpPr>
        <p:spPr>
          <a:xfrm>
            <a:off x="5379260" y="2850242"/>
            <a:ext cx="92469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Neural Operator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E44466-2E4E-F12A-102E-39D7E0A5BDB6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3930205" y="3111852"/>
            <a:ext cx="2621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280A20-A76F-F71F-41A0-A3C9AC7E42C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117081" y="3111852"/>
            <a:ext cx="262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12E72-8BB7-4F1C-60B0-31135E674D23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>
            <a:off x="6303957" y="3111852"/>
            <a:ext cx="262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51094D-7E04-13A4-1116-C5006D6B0C1B}"/>
              </a:ext>
            </a:extLst>
          </p:cNvPr>
          <p:cNvCxnSpPr>
            <a:cxnSpLocks/>
            <a:stCxn id="15" idx="3"/>
            <a:endCxn id="9" idx="1"/>
          </p:cNvCxnSpPr>
          <p:nvPr/>
        </p:nvCxnSpPr>
        <p:spPr>
          <a:xfrm>
            <a:off x="7686739" y="3111852"/>
            <a:ext cx="1300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hart of a spectrum&#10;&#10;Description automatically generated">
            <a:extLst>
              <a:ext uri="{FF2B5EF4-FFF2-40B4-BE49-F238E27FC236}">
                <a16:creationId xmlns:a16="http://schemas.microsoft.com/office/drawing/2014/main" id="{AEE64BEE-76F3-47DD-4BF2-890479BAF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781" y="5062411"/>
            <a:ext cx="2897462" cy="17866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A71985B-9BE4-8DE7-9A33-D02921E505AD}"/>
              </a:ext>
            </a:extLst>
          </p:cNvPr>
          <p:cNvSpPr txBox="1"/>
          <p:nvPr/>
        </p:nvSpPr>
        <p:spPr>
          <a:xfrm>
            <a:off x="6566135" y="5694120"/>
            <a:ext cx="112060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Alternative Output</a:t>
            </a:r>
          </a:p>
        </p:txBody>
      </p:sp>
    </p:spTree>
    <p:extLst>
      <p:ext uri="{BB962C8B-B14F-4D97-AF65-F5344CB8AC3E}">
        <p14:creationId xmlns:p14="http://schemas.microsoft.com/office/powerpoint/2010/main" val="374317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0286AAF-2E6E-403E-91BE-A2946A363024}" vid="{92B06224-0031-4F49-96AB-D28CAE4577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6D81289CCC004F972E63C671B7D298" ma:contentTypeVersion="11" ma:contentTypeDescription="Create a new document." ma:contentTypeScope="" ma:versionID="f0a023cf506d87bb97b51fb4161b9eba">
  <xsd:schema xmlns:xsd="http://www.w3.org/2001/XMLSchema" xmlns:xs="http://www.w3.org/2001/XMLSchema" xmlns:p="http://schemas.microsoft.com/office/2006/metadata/properties" xmlns:ns3="5ab46313-7834-4214-aec9-155b2fe37111" xmlns:ns4="2d1aa6b7-1a0a-46e3-8f70-b6d3e32cbd9a" targetNamespace="http://schemas.microsoft.com/office/2006/metadata/properties" ma:root="true" ma:fieldsID="fb8935dbd9c171815cb087e97e0838ff" ns3:_="" ns4:_="">
    <xsd:import namespace="5ab46313-7834-4214-aec9-155b2fe37111"/>
    <xsd:import namespace="2d1aa6b7-1a0a-46e3-8f70-b6d3e32cbd9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46313-7834-4214-aec9-155b2fe3711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aa6b7-1a0a-46e3-8f70-b6d3e32cbd9a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b46313-7834-4214-aec9-155b2fe371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BBE5A-F611-4091-94E1-60C5F755DF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b46313-7834-4214-aec9-155b2fe37111"/>
    <ds:schemaRef ds:uri="2d1aa6b7-1a0a-46e3-8f70-b6d3e32cb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48A49F-C736-4524-BB36-F11018D26634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2d1aa6b7-1a0a-46e3-8f70-b6d3e32cbd9a"/>
    <ds:schemaRef ds:uri="http://purl.org/dc/dcmitype/"/>
    <ds:schemaRef ds:uri="5ab46313-7834-4214-aec9-155b2fe37111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294D1B7-8679-422F-949D-1455F508E5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Brinson_group_template2019</Template>
  <TotalTime>44807</TotalTime>
  <Words>665</Words>
  <Application>Microsoft Office PowerPoint</Application>
  <PresentationFormat>Widescreen</PresentationFormat>
  <Paragraphs>70</Paragraphs>
  <Slides>6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Trebuchet MS</vt:lpstr>
      <vt:lpstr>Office Theme</vt:lpstr>
      <vt:lpstr>Fourier Neural Operators for 2D Acoustic Metamaterials</vt:lpstr>
      <vt:lpstr>FNO Architecture &amp; Sample Example</vt:lpstr>
      <vt:lpstr>PowerPoint Presentation</vt:lpstr>
      <vt:lpstr>Motivation &amp; Applications</vt:lpstr>
      <vt:lpstr>Methodology</vt:lpstr>
      <vt:lpstr>Data &amp;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Mechanics  Error Propagation Eqns</dc:title>
  <dc:creator>Richard J. Sheridan</dc:creator>
  <cp:lastModifiedBy>Han Zhang</cp:lastModifiedBy>
  <cp:revision>117</cp:revision>
  <dcterms:created xsi:type="dcterms:W3CDTF">2019-08-08T21:17:44Z</dcterms:created>
  <dcterms:modified xsi:type="dcterms:W3CDTF">2026-06-12T20:54:42Z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0x0101008C6D81289CCC004F972E63C671B7D298</vt:lpwstr>
  </property>
</Properties>
</file>